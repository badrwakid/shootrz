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217920" y="365760"/>
            <a:ext cx="3200400" cy="3200400"/>
          </a:xfrm>
          <a:prstGeom prst="ellipse">
            <a:avLst/>
          </a:prstGeom>
          <a:solidFill>
            <a:srgbClr val="FF6B35">
              <a:alpha val="12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675120" y="822960"/>
            <a:ext cx="2286000" cy="2286000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914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SHOOTRZ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Basketball Coaching 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THE GAME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971800"/>
            <a:ext cx="7772400" cy="36576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30906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Pre-Final Project Demonstration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456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Elbatran  ·  Badr Wakid  ·  Hamza Draz  ·  Hassan Samaha  ·  Adam Tamer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Prof. Walaa Elashmawi  |  April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0416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github.com/badrwakid/SHOOTRZ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51560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2130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15568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Features (Live Demo)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39896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3922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 — Pose Detection &amp; Scoring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051560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1032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5896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Evaluation Results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947672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10328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58968" y="2130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2843784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10328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58968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Issues &amp; Resolutions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3739896"/>
            <a:ext cx="406908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10328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58968" y="3922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Roadmap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0D0D1A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53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Basketball coaching relies on subjective feedback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755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outside professional leagues lack data-driven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157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cannot analyse every shot in detail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0D1A0D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9204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39903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20640" y="1353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pose estimation via MediaPipe / MoveNet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801368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20640" y="1755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0–100 biomechanical performance 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203704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20640" y="2157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coaching via Coach J chatbot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74320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MENA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Egypt-first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01752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28600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301752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297680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29768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+ English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301752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09360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309360" y="3584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/ MoveNet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— Layered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2A1A0E"/>
          </a:solidFill>
          <a:ln w="317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(Expo)  |  Android &amp; 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274320" cy="228600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05840"/>
          </a:xfrm>
          <a:prstGeom prst="rect">
            <a:avLst/>
          </a:prstGeom>
          <a:solidFill>
            <a:srgbClr val="0E1A2A"/>
          </a:solidFill>
          <a:ln w="31750">
            <a:solidFill>
              <a:srgbClr val="4A90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23317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90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609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|  AI Processing Engine  |  Coach J Chatbot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3246120"/>
            <a:ext cx="274320" cy="228600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E2A1A"/>
          </a:solidFill>
          <a:ln w="3175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5661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8953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&amp; Storage  |  Supabase (PostgreSQL)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73168"/>
            <a:ext cx="132588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4773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Capture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4773168"/>
            <a:ext cx="132588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920240" y="4773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Estimator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4773168"/>
            <a:ext cx="132588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83280" y="4773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Module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4773168"/>
            <a:ext cx="132588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4773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Engine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4773168"/>
            <a:ext cx="132588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09360" y="4773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J (LLM)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4773168"/>
            <a:ext cx="1325880" cy="274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72400" y="47731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Implemented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691640"/>
          </a:xfrm>
          <a:prstGeom prst="rect">
            <a:avLst/>
          </a:prstGeom>
          <a:solidFill>
            <a:srgbClr val="0E102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133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🎥  Video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5–20s clips. MediaPipe detects 17 key joints. Drill auto-classified.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91840" y="1005840"/>
            <a:ext cx="2834640" cy="1691640"/>
          </a:xfrm>
          <a:prstGeom prst="rect">
            <a:avLst/>
          </a:prstGeom>
          <a:solidFill>
            <a:srgbClr val="0E1020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1133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Performance Score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biomechanical score. Elbow angle, knee bend, release point.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64008" cy="169164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834640" cy="169164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46520" y="1133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Coach J Chatbot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GPT-powered coach. Bilingual (AR/EN). Personalised drill plans.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64008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834640" cy="1691640"/>
          </a:xfrm>
          <a:prstGeom prst="rect">
            <a:avLst/>
          </a:prstGeom>
          <a:solidFill>
            <a:srgbClr val="0E102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1480" y="3008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 Progress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history, trend charts, personal bests. Real-time refresh.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6400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834640" cy="1691640"/>
          </a:xfrm>
          <a:prstGeom prst="rect">
            <a:avLst/>
          </a:prstGeom>
          <a:solidFill>
            <a:srgbClr val="0E102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29000" y="3008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Secure Auth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383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email + Google OAuth. RBAC for athletes &amp; coaches.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880360"/>
            <a:ext cx="64008" cy="1691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309360" y="2880360"/>
            <a:ext cx="2834640" cy="1691640"/>
          </a:xfrm>
          <a:prstGeom prst="rect">
            <a:avLst/>
          </a:prstGeom>
          <a:solidFill>
            <a:srgbClr val="0E1020"/>
          </a:solidFill>
          <a:ln w="19050">
            <a:solidFill>
              <a:srgbClr val="FF8C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46520" y="3008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Bilingual UI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383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Arabic RTL support + English LTR. MENA-first design.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880360"/>
            <a:ext cx="64008" cy="1691640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Engine — Pose Detection &amp; Scoring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" y="1143000"/>
            <a:ext cx="1115568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82880" y="1143000"/>
            <a:ext cx="11155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Input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98448" y="1472184"/>
            <a:ext cx="1828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481328" y="1143000"/>
            <a:ext cx="1115568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81328" y="1143000"/>
            <a:ext cx="11155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Extraction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96896" y="1472184"/>
            <a:ext cx="1828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79776" y="1143000"/>
            <a:ext cx="1115568" cy="731520"/>
          </a:xfrm>
          <a:prstGeom prst="rect">
            <a:avLst/>
          </a:prstGeom>
          <a:solidFill>
            <a:srgbClr val="FF6B35"/>
          </a:solidFill>
          <a:ln w="31750">
            <a:solidFill>
              <a:srgbClr val="E55A2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79776" y="1143000"/>
            <a:ext cx="11155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Estimation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(MediaPipe)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95344" y="1472184"/>
            <a:ext cx="1828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078224" y="1143000"/>
            <a:ext cx="1115568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078224" y="1143000"/>
            <a:ext cx="11155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Angle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93792" y="1472184"/>
            <a:ext cx="1828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376672" y="1143000"/>
            <a:ext cx="1115568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76672" y="1143000"/>
            <a:ext cx="11155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1472184"/>
            <a:ext cx="1828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1115568" cy="731520"/>
          </a:xfrm>
          <a:prstGeom prst="rect">
            <a:avLst/>
          </a:prstGeom>
          <a:solidFill>
            <a:srgbClr val="FF6B35"/>
          </a:solidFill>
          <a:ln w="31750">
            <a:solidFill>
              <a:srgbClr val="E55A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75120" y="1143000"/>
            <a:ext cx="11155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(0–100)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90688" y="1472184"/>
            <a:ext cx="1828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973568" y="1143000"/>
            <a:ext cx="1115568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73568" y="1143000"/>
            <a:ext cx="111556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148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 Breakdown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Release Angle (35%)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71800" y="2560320"/>
            <a:ext cx="3200400" cy="182880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971800" y="2560320"/>
            <a:ext cx="2624328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36208" y="25146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 Bend Depth (30%)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71800" y="3063240"/>
            <a:ext cx="3200400" cy="182880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971800" y="3063240"/>
            <a:ext cx="2368296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36208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Follow-Through Arc (20%)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71800" y="3566160"/>
            <a:ext cx="3200400" cy="182880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971800" y="3566160"/>
            <a:ext cx="2816352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36208" y="35204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Alignment / Balance (15%)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71800" y="4069080"/>
            <a:ext cx="3200400" cy="182880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971800" y="4069080"/>
            <a:ext cx="2528316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36208" y="4023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AVERAGE SCORE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4462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/ 100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6858000" y="2148840"/>
            <a:ext cx="2103120" cy="1920240"/>
          </a:xfrm>
          <a:prstGeom prst="rect">
            <a:avLst/>
          </a:prstGeom>
          <a:solidFill>
            <a:srgbClr val="0D201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94944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(Good Lighting)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27614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63.65%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694944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130.0s avg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 Evaluation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91440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87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 Cases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91440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31720" y="987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31720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0" y="987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914400"/>
            <a:ext cx="1828800" cy="10515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46520" y="987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46520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8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560320"/>
            <a:ext cx="1645920" cy="1645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58952" y="2724912"/>
            <a:ext cx="1316736" cy="1316736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100.0%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2103120"/>
            <a:ext cx="22860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26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103120"/>
            <a:ext cx="914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103120"/>
            <a:ext cx="914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2648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2103120"/>
            <a:ext cx="914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4088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2103120"/>
            <a:ext cx="914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95528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0" y="2423160"/>
            <a:ext cx="22860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26080" y="2423160"/>
            <a:ext cx="22860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2423160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212080" y="24231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423160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126480" y="24231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2423160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040880" y="24231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55280" y="2423160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955280" y="24231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2761488"/>
            <a:ext cx="22860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26080" y="2761488"/>
            <a:ext cx="22860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&amp; AI Engine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12080" y="2761488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212080" y="27614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2761488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126480" y="27614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40880" y="2761488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040880" y="27614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955280" y="2761488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955280" y="27614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26080" y="3099816"/>
            <a:ext cx="22860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26080" y="3099816"/>
            <a:ext cx="22860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&amp; Chatbot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12080" y="3099816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0" y="30998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26480" y="3099816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26480" y="30998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40880" y="3099816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040880" y="30998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55280" y="3099816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55280" y="309981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926080" y="3438144"/>
            <a:ext cx="22860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926080" y="3438144"/>
            <a:ext cx="22860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Dashboard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212080" y="3438144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212080" y="343814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26480" y="3438144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126480" y="343814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040880" y="3438144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040880" y="343814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955280" y="3438144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955280" y="343814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926080" y="3776472"/>
            <a:ext cx="22860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2926080" y="3776472"/>
            <a:ext cx="22860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Bilingual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212080" y="3776472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212080" y="377647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126480" y="3776472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6126480" y="377647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040880" y="3776472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7040880" y="377647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955280" y="3776472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7955280" y="377647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926080" y="4114800"/>
            <a:ext cx="22860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2926080" y="4114800"/>
            <a:ext cx="22860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212080" y="4114800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212080" y="411480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126480" y="4114800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126480" y="411480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040880" y="4114800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7040880" y="411480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955280" y="4114800"/>
            <a:ext cx="914400" cy="338328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7955280" y="411480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926080" y="4453128"/>
            <a:ext cx="22860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2926080" y="4453128"/>
            <a:ext cx="2286000" cy="3383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212080" y="4453128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5212080" y="44531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126480" y="4453128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126480" y="44531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040880" y="4453128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7040880" y="44531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955280" y="4453128"/>
            <a:ext cx="914400" cy="338328"/>
          </a:xfrm>
          <a:prstGeom prst="rect">
            <a:avLst/>
          </a:prstGeom>
          <a:solidFill>
            <a:srgbClr val="0E1020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7955280" y="445312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" y="105156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38328" y="1143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(20s clip)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130.0s avg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" y="201168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38328" y="2011680"/>
            <a:ext cx="1124712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8328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≤ 8s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112471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68880" y="105156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78608" y="1143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1.1s avg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78608" y="201168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578608" y="2011680"/>
            <a:ext cx="1030986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78608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2s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12471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18888" y="1143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2.3s avg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18888" y="201168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18888" y="2011680"/>
            <a:ext cx="144338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18888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≤ 3s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112471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949440" y="105156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59168" y="1143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Concurrent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59168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21.0s / 1.92% err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59168" y="201168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059168" y="2011680"/>
            <a:ext cx="187452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059168" y="2221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No degrade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78240" y="112471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28600" y="301752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38328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Concurrent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19.0s / 84.44% err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8328" y="397764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38328" y="3977640"/>
            <a:ext cx="1874520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38328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No degrade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57400" y="309067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468880" y="301752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578608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(Good Light)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78608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63.65%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578608" y="397764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578608" y="3977640"/>
            <a:ext cx="1705813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578608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 85%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97680" y="309067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709160" y="301752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18888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Light)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18888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63.65%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818888" y="397764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818888" y="3977640"/>
            <a:ext cx="1143457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818888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 85%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37960" y="309067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949440" y="3017520"/>
            <a:ext cx="2103120" cy="178308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059168" y="3108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59168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3435 MB peak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059168" y="3977640"/>
            <a:ext cx="1874520" cy="164592"/>
          </a:xfrm>
          <a:prstGeom prst="rect">
            <a:avLst/>
          </a:prstGeom>
          <a:solidFill>
            <a:srgbClr val="16213E"/>
          </a:solidFill>
          <a:ln w="63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059168" y="3977640"/>
            <a:ext cx="136840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059168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300 MB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778240" y="309067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Known Issues &amp; Bug Status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" y="1005840"/>
            <a:ext cx="4251960" cy="1143000"/>
          </a:xfrm>
          <a:prstGeom prst="rect">
            <a:avLst/>
          </a:prstGeom>
          <a:solidFill>
            <a:srgbClr val="0E102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8600" y="1005840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93192" y="1078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BUG-001 — Low-light detection fails silently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AI Engine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54680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3533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UI warning when lighting insufficient. Fix: Add lighting quality check before recording.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51960" cy="1143000"/>
          </a:xfrm>
          <a:prstGeom prst="rect">
            <a:avLst/>
          </a:prstGeom>
          <a:solidFill>
            <a:srgbClr val="0E102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73752" y="1078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BUG-002 — Timeout at 100 concurrent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1353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Backend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35240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13533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3752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84.44% error rate under full load (100-user test). Fix: Implement async queue + horizontal scaling.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304288"/>
            <a:ext cx="4251960" cy="1143000"/>
          </a:xfrm>
          <a:prstGeom prst="rect">
            <a:avLst/>
          </a:prstGeom>
          <a:solidFill>
            <a:srgbClr val="0E102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28600" y="2304288"/>
            <a:ext cx="64008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93192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BUG-003 — Skeleton overlay misaligned (portrait)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" y="2651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2651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Feedback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54680" y="2651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" y="28986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9:16 aspect ratio causes coordinate mismatch. Fix: Normalise coordinates by aspect ratio.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304288"/>
            <a:ext cx="4251960" cy="1143000"/>
          </a:xfrm>
          <a:prstGeom prst="rect">
            <a:avLst/>
          </a:prstGeom>
          <a:solidFill>
            <a:srgbClr val="0E102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709160" y="2304288"/>
            <a:ext cx="64008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73752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BUG-004 — Arabic rendering on Android 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2651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2651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Localisation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5240" y="2651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38160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73752" y="28986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 characters on older devices. Fix: Bundle Noto Naskh Arabic font in APK.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3602736"/>
            <a:ext cx="4251960" cy="1143000"/>
          </a:xfrm>
          <a:prstGeom prst="rect">
            <a:avLst/>
          </a:prstGeom>
          <a:solidFill>
            <a:srgbClr val="0E102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28600" y="3602736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93192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BUG-005 — Session never expires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" y="39502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1560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Security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154680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0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93192" y="41970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token renews indefinitely. Fix: Enforce server-side 24h token revocation.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602736"/>
            <a:ext cx="4251960" cy="1143000"/>
          </a:xfrm>
          <a:prstGeom prst="rect">
            <a:avLst/>
          </a:prstGeom>
          <a:solidFill>
            <a:srgbClr val="0E10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709160" y="3602736"/>
            <a:ext cx="64008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873752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BUG-007 — Dashboard blank after first session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73752" y="39502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32120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55080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Dashboard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35240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138160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73752" y="41970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 commit #4a7bc2f. Baseline data now initialised on account creation.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&amp; Final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86384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0E1020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325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1–2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74520" y="1115568"/>
            <a:ext cx="27432" cy="914400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57400" y="123444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40280" y="11887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BUG-002: Deploy async task queue (Redis/Celery)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160020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40280" y="1554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BUG-001: Add lighting quality pre-check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8595360" cy="1143000"/>
          </a:xfrm>
          <a:prstGeom prst="rect">
            <a:avLst/>
          </a:prstGeom>
          <a:solidFill>
            <a:srgbClr val="0E1020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4320" y="2304288"/>
            <a:ext cx="91440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2624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3–4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74520" y="2414016"/>
            <a:ext cx="27432" cy="914400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057400" y="253288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240280" y="2487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BUG-003: Normalise overlay for 9:16 video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57400" y="289864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240280" y="28529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BUG-004: Bundle Arabic font (Noto Naskh)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326440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40280" y="32186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BUG-005: Implement server-side session expiry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8595360" cy="1143000"/>
          </a:xfrm>
          <a:prstGeom prst="rect">
            <a:avLst/>
          </a:prstGeom>
          <a:solidFill>
            <a:srgbClr val="0E102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3602736"/>
            <a:ext cx="9144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392277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5–6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874520" y="3712464"/>
            <a:ext cx="27432" cy="914400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057400" y="3831336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40280" y="378561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second usability test round (n=15)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57400" y="4197096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240280" y="4151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retest at 100 concurrent users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57400" y="4562856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240280" y="4517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documentation and report submission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Verdict: CONDITIONALLY READY FOR FINAL DEMONSTRATION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FF6B35">
              <a:alpha val="1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Feedback Welcome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4572000" cy="36576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github.com/badrwakid/SHOOTRZ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767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Elbatran  ·  Badr Wakid  ·  Hamza Draz  ·  Hassan Samaha  ·  Adam Tamer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041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Prof. Walaa Elashmawi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THE GAME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SHOOTRZ Pre-Final Project Demonstration</dc:title>
  <dc:subject>PptxGenJS Presentation</dc:subject>
  <dc:creator>PptxGenJS</dc:creator>
  <cp:lastModifiedBy>PptxGenJS</cp:lastModifiedBy>
  <cp:revision>1</cp:revision>
  <dcterms:created xsi:type="dcterms:W3CDTF">2026-04-21T23:24:27Z</dcterms:created>
  <dcterms:modified xsi:type="dcterms:W3CDTF">2026-04-21T23:24:27Z</dcterms:modified>
</cp:coreProperties>
</file>